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ВСТУПЛЕНИЕ (1 минута)</a:t>
            </a:r>
          </a:p>
          <a:p/>
          <a:p>
            <a:r>
              <a:t>Добро пожаловать. Сегодня мы поговорим о том, как кардинально изменится рынок труда в ближайшие 10–15 лет. Некоторые профессии исчезнут. Появятся абсолютно новые. И ни одна из них не будет похожа на то, что мы знаем сегодня.</a:t>
            </a:r>
          </a:p>
          <a:p/>
          <a:p>
            <a:r>
              <a:t>Прежде чем начать — поднимите руку те, кто уверен, что их профессия не изменится за следующие 10 лет. Пауза. Посмотрим, поменяете ли вы мнение к концу.</a:t>
            </a:r>
          </a:p>
          <a:p/>
          <a:p>
            <a:r>
              <a:t>[Начинайте энергично, с прямым зрительным контактом с залом. Не благодарите за приглашение — сразу в тему.]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ХУК — ЗАХВАТИТЬ ВНИМАНИЕ (1 минута)</a:t>
            </a:r>
          </a:p>
          <a:p/>
          <a:p>
            <a:r>
              <a:t>Восемьдесят пять процентов. Запомните эту цифру.</a:t>
            </a:r>
          </a:p>
          <a:p/>
          <a:p>
            <a:r>
              <a:t>По данным Института будущего и ВЭФ, 85% профессий, которые будут существовать в 2035 году, сегодня просто не существуют. Ещё десять лет — и большинство рабочих мест изменится до неузнаваемости.</a:t>
            </a:r>
          </a:p>
          <a:p/>
          <a:p>
            <a:r>
              <a:t>Это не научная фантастика. Это уже происходит: в 2020 году у нас не было "специалиста по промпт-инжинирингу". В 2025-м это уже реальная профессия с реальными зарплатами.</a:t>
            </a:r>
          </a:p>
          <a:p/>
          <a:p>
            <a:r>
              <a:t>Вопрос не в том, изменится ли ваша работа. Вопрос — готовы ли вы к этому?</a:t>
            </a:r>
          </a:p>
          <a:p/>
          <a:p>
            <a:r>
              <a:t>[Держите паузу после цифры 85%. Дайте залу осознать это.]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КОНТЕКСТ — ДВИЖУЩИЕ СИЛЫ (1 минута)</a:t>
            </a:r>
          </a:p>
          <a:p/>
          <a:p>
            <a:r>
              <a:t>Перемены не случайны. За ними стоят три мощные силы, которые уже сегодня переписывают правила.</a:t>
            </a:r>
          </a:p>
          <a:p/>
          <a:p>
            <a:r>
              <a:t>Первая — автоматизация. Роботы и программы забирают физический и монотонный труд. По оценкам McKinsey, к 2030 году до 30% рутинных задач будет автоматизировано.</a:t>
            </a:r>
          </a:p>
          <a:p/>
          <a:p>
            <a:r>
              <a:t>Вторая — искусственный интеллект. ИИ уже сегодня пишет тексты, ставит медицинские диагнозы, рисует логотипы. Он конкурирует с людьми в том, что раньше казалось исключительно человеческим.</a:t>
            </a:r>
          </a:p>
          <a:p/>
          <a:p>
            <a:r>
              <a:t>Третья — глобализация и удалёнка. Если вы дизайнер или программист, ваш конкурент теперь живёт в Бангалоре или Варшаве и работает за треть вашей ставки.</a:t>
            </a:r>
          </a:p>
          <a:p/>
          <a:p>
            <a:r>
              <a:t>Эти три силы работают одновременно. Это не волна — это цунами.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ЧАСТИ I (30 секунд)</a:t>
            </a:r>
          </a:p>
          <a:p/>
          <a:p>
            <a:r>
              <a:t>Начнём с неудобной правды.</a:t>
            </a:r>
          </a:p>
          <a:p/>
          <a:p>
            <a:r>
              <a:t>Некоторые профессии, которые существуют сегодня, исчезнут в течение следующих 10 лет. Не ослабнут — исчезнут. И это не предположение — это уже происходит в пилотных проектах по всему миру.</a:t>
            </a:r>
          </a:p>
          <a:p/>
          <a:p>
            <a:r>
              <a:t>[Пауза. Сделайте паузу здесь — пусть слайд "подышит". Затем переходите дальше.]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ПРОФЕССИИ ПОД УГРОЗОЙ (2 минуты)</a:t>
            </a:r>
          </a:p>
          <a:p/>
          <a:p>
            <a:r>
              <a:t>Давайте посмотрим конкретно. Вот шесть категорий, которые сократятся или полностью трансформируются.</a:t>
            </a:r>
          </a:p>
          <a:p/>
          <a:p>
            <a:r>
              <a:t>Водители. Waymo, Tesla и китайские беспилотники уже возят пассажиров и грузы без человека за рулём в нескольких городах. В 2023 году Waymo перевезла 700 000 человек без водителя в Сан-Франциско.</a:t>
            </a:r>
          </a:p>
          <a:p/>
          <a:p>
            <a:r>
              <a:t>Кассиры и операторы банков. Amazon Go работает полностью без кассиров. Онлайн-банкинг убил большую часть клиентского персонала физических отделений.</a:t>
            </a:r>
          </a:p>
          <a:p/>
          <a:p>
            <a:r>
              <a:t>Операторы call-центров. Сегодня ИИ-боты типа Intercom или Dialogflow закрывают до 80% стандартных обращений. Человек нужен только для сложных случаев.</a:t>
            </a:r>
          </a:p>
          <a:p/>
          <a:p>
            <a:r>
              <a:t>Переводчики — только базового уровня. Художественный и юридический перевод пока держится, но технический и бытовой — уже нет.</a:t>
            </a:r>
          </a:p>
          <a:p/>
          <a:p>
            <a:r>
              <a:t>Конвейерные рабочие. Промышленный робот Fanuc окупается за 18 месяцев. После этого работает 24/7 без больничных.</a:t>
            </a:r>
          </a:p>
          <a:p/>
          <a:p>
            <a:r>
              <a:t>Рутинная бухгалтерия. Не стратегическая — а ввод данных, проверка чеков, формирование отчётов.</a:t>
            </a:r>
          </a:p>
          <a:p/>
          <a:p>
            <a:r>
              <a:t>ВАЖНО: Это не значит, что все эти люди потеряют работу. Это значит, что их роль изменится — или исчезнет её рутинная часть. Выживут те, кто адаптируется.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ЗАКОНОМЕРНОСТЬ АВТОМАТИЗАЦИИ (1 минута)</a:t>
            </a:r>
          </a:p>
          <a:p/>
          <a:p>
            <a:r>
              <a:t>Есть простой принцип, который объясняет всё.</a:t>
            </a:r>
          </a:p>
          <a:p/>
          <a:p>
            <a:r>
              <a:t>Автоматизация идёт снизу вверх. Первыми уходят задачи физические и повторяющиеся — там, где нужна точность, а не творчество. Потом — когнитивные рутинные задачи: анализ данных по шаблону, стандартные тексты.</a:t>
            </a:r>
          </a:p>
          <a:p/>
          <a:p>
            <a:r>
              <a:t>Сложнее всего автоматизировать то, что требует эмоционального интеллекта, нестандартного мышления и настоящего человеческого взаимодействия.</a:t>
            </a:r>
          </a:p>
          <a:p/>
          <a:p>
            <a:r>
              <a:t>Вывод очень практический: если хотите быть нужным — поднимайтесь по этой пирамиде. Думайте нестандартно, общайтесь, создавайте, убеждайте.</a:t>
            </a:r>
          </a:p>
          <a:p/>
          <a:p>
            <a:r>
              <a:t>[Это ключевой аналитический слайд. Убедитесь, что аудитория считала логику пирамиды.]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ЧАСТИ II (30 секунд)</a:t>
            </a:r>
          </a:p>
          <a:p/>
          <a:p>
            <a:r>
              <a:t>А теперь — хорошая новость.</a:t>
            </a:r>
          </a:p>
          <a:p/>
          <a:p>
            <a:r>
              <a:t>История труда никогда не заканчивалась исчезновением профессий. Каждый раз, когда технологии убирали одни задачи, они создавали другие. Промышленная революция убрала ткачей — но создала инженеров. Компьютер убил машинисток — но создал миллионы программистов.</a:t>
            </a:r>
          </a:p>
          <a:p/>
          <a:p>
            <a:r>
              <a:t>Давайте посмотрим, что появляется сейчас.</a:t>
            </a:r>
          </a:p>
          <a:p/>
          <a:p>
            <a:r>
              <a:t>[Смените тон с тревожного на воодушевлённый. Эта часть — о возможностях.]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ВОЛНА НОВЫХ ПРОФЕССИЙ (2 минуты)</a:t>
            </a:r>
          </a:p>
          <a:p/>
          <a:p>
            <a:r>
              <a:t>Вот первая волна — то, что уже существует или появится в ближайшие 3-5 лет.</a:t>
            </a:r>
          </a:p>
          <a:p/>
          <a:p>
            <a:r>
              <a:t>Промпт-инженер или ИИ-тренер. В 2022 году такой профессии не было. В 2024-м в США средняя зарплата — $150-300 тысяч в год. Это человек, который знает, как правильно "разговаривать" с ИИ и получать нужный результат.</a:t>
            </a:r>
          </a:p>
          <a:p/>
          <a:p>
            <a:r>
              <a:t>Специалист по кибербезопасности. С каждым годом атак становится больше. Нехватка кадров — 3.5 миллиона незакрытых вакансий по всему миру.</a:t>
            </a:r>
          </a:p>
          <a:p/>
          <a:p>
            <a:r>
              <a:t>Этик данных и ИИ. Когда алгоритм принимает решение об отказе в кредите или постановке диагноза — кто отвечает? Новая профессия.</a:t>
            </a:r>
          </a:p>
          <a:p/>
          <a:p>
            <a:r>
              <a:t>Разработчик XR — это VR, AR и смешанная реальность. Apple Vision Pro, Meta Quest — индустрия набирает обороты.</a:t>
            </a:r>
          </a:p>
          <a:p/>
          <a:p>
            <a:r>
              <a:t>Биоинформатик — на стыке биологии, компьютерных наук и ИИ. Пандемия показала, как важны такие люди.</a:t>
            </a:r>
          </a:p>
          <a:p/>
          <a:p>
            <a:r>
              <a:t>ESG-консультант. Устойчивое развитие — теперь обязательное требование для бизнеса в Европе и мире.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ВОЛНА — ГОРИЗОНТ 2030-2040 (1.5 минуты)</a:t>
            </a:r>
          </a:p>
          <a:p/>
          <a:p>
            <a:r>
              <a:t>А теперь поднимем горизонт до 2040 года.</a:t>
            </a:r>
          </a:p>
          <a:p/>
          <a:p>
            <a:r>
              <a:t>Архитектор космической инфраструктуры. Илон Маск строит базу на Марсе. Это не метафора — это бизнес-план SpaceX. Кто-то должен проектировать эти объекты.</a:t>
            </a:r>
          </a:p>
          <a:p/>
          <a:p>
            <a:r>
              <a:t>Консультант по долголетию. Технологии продления жизни — geroscience — уже привлекают миллиарды долларов. Когда люди начнут жить до 120 лет, им понадобятся специалисты, которые помогут это спланировать.</a:t>
            </a:r>
          </a:p>
          <a:p/>
          <a:p>
            <a:r>
              <a:t>Инженер по декарбонизации. Евросоюз обязал компании достичь углеродной нейтральности. Это миллионы рабочих мест.</a:t>
            </a:r>
          </a:p>
          <a:p/>
          <a:p>
            <a:r>
              <a:t>Менеджер цифрового двойника. Siemens уже делает цифровые копии заводов. В 2035-м будут цифровые двойники городов — и людей.</a:t>
            </a:r>
          </a:p>
          <a:p/>
          <a:p>
            <a:r>
              <a:t>Генетический диетолог. Ваша ДНК определяет, как вы усваиваете витамины. Персонализированная медицина — следующий шаг.</a:t>
            </a:r>
          </a:p>
          <a:p/>
          <a:p>
            <a:r>
              <a:t>И наконец — дизайнер умных городов. Где каждый светофор, здание и тротуар подключены к единой системе ИИ.</a:t>
            </a:r>
          </a:p>
          <a:p/>
          <a:p>
            <a:r>
              <a:t>[Можно добавить лёгкую улыбку — это захватывающее будущее!]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ВРЕМЕННАЯ ШКАЛА (1 минута)</a:t>
            </a:r>
          </a:p>
          <a:p/>
          <a:p>
            <a:r>
              <a:t>Давайте привяжем всё это к конкретным датам.</a:t>
            </a:r>
          </a:p>
          <a:p/>
          <a:p>
            <a:r>
              <a:t>2025 — уже сейчас. ИИ-ассистент есть у каждого. Промпт-инженеры уже работают.</a:t>
            </a:r>
          </a:p>
          <a:p/>
          <a:p>
            <a:r>
              <a:t>2027-2028. Беспилотные грузовики появятся на трассах США и Китая. Операторы call-центров начнут массово терять работу.</a:t>
            </a:r>
          </a:p>
          <a:p/>
          <a:p>
            <a:r>
              <a:t>2030 — переломный момент. По оценкам McKinsey, к этому году 30% всех рутинных задач будет автоматизировано. Исчезнут первые профессии I-волны.</a:t>
            </a:r>
          </a:p>
          <a:p/>
          <a:p>
            <a:r>
              <a:t>2035 — следующий горизонт. Большинство профессий I-волны уже трансформированы. Начинается доминирование новых специальностей.</a:t>
            </a:r>
          </a:p>
          <a:p/>
          <a:p>
            <a:r>
              <a:t>2040 и далее. Нам сложно предсказать, что именно появится — потому что темп изменений нарастает. Каждые 5 лет — новая реальность.</a:t>
            </a:r>
          </a:p>
          <a:p/>
          <a:p>
            <a:r>
              <a:t>Вывод: у нас есть 5-10 лет, чтобы подготовиться. Это немало — если начать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НАВЫКИ БУДУЩЕГО (1 минута)</a:t>
            </a:r>
          </a:p>
          <a:p/>
          <a:p>
            <a:r>
              <a:t>Теперь — самое важное: какие навыки защитят вас от автоматизации?</a:t>
            </a:r>
          </a:p>
          <a:p/>
          <a:p>
            <a:r>
              <a:t>Критическое мышление. ИИ выполняет инструкции — он не задаёт правильные вопросы. Умение мыслить аналитически, видеть проблему целиком — это человеческое.</a:t>
            </a:r>
          </a:p>
          <a:p/>
          <a:p>
            <a:r>
              <a:t>Эмоциональный интеллект. Люди хотят общаться с людьми. В кризисных ситуациях, в воспитании детей, в терапии, в переговорах — робот не заменит живого человека.</a:t>
            </a:r>
          </a:p>
          <a:p/>
          <a:p>
            <a:r>
              <a:t>Творчество и инновации. ИИ генерирует вариации. Создать радикально новое — культуру, движение, продукт, который меняет правила — пока за нами.</a:t>
            </a:r>
          </a:p>
          <a:p/>
          <a:p>
            <a:r>
              <a:t>Адаптивность. Ключевой метанавык. Тот, кто умеет быстро учиться новому, всегда будет востребован — просто в другой роли.</a:t>
            </a:r>
          </a:p>
          <a:p/>
          <a:p>
            <a:r>
              <a:t>И добавлю пятый пункт: базовая техническая грамотность. Не нужно уметь программировать — но понимать, что такое ИИ, данные, автоматизация — уже обязательно для всех.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ПРИЗЫВ К ДЕЙСТВИЮ (1.5 минуты)</a:t>
            </a:r>
          </a:p>
          <a:p/>
          <a:p>
            <a:r>
              <a:t>Итак, что конкретно делать?</a:t>
            </a:r>
          </a:p>
          <a:p/>
          <a:p>
            <a:r>
              <a:t>Шаг первый — прямо сейчас. Откройте ChatGPT, Copilot или любой ИИ-инструмент в вашей сфере. Посвящайте ему 30 минут в день. Через месяц вы будете понимать ИИ лучше 90% коллег.</a:t>
            </a:r>
          </a:p>
          <a:p/>
          <a:p>
            <a:r>
              <a:t>Шаг второй — в ближайшие полгода. Развивайте soft skills. Не те, что написаны в резюме, а настоящие. Публичные выступления. Умение убеждать. Умение слушать. Эти навыки будут ценнее диплома.</a:t>
            </a:r>
          </a:p>
          <a:p/>
          <a:p>
            <a:r>
              <a:t>Шаг третий — долгосрочная стратегия. Посмотрите на стык дисциплин. Юрист, который понимает ИИ, стоит в 3 раза дороже просто юриста. Дизайнер, который знает нейронауки, незаменим. Ищите свой уникальный стык.</a:t>
            </a:r>
          </a:p>
          <a:p/>
          <a:p>
            <a:r>
              <a:t>[Будьте конкретны и энергичны. Дайте людям ощущение, что они могут действовать прямо сегодня.]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АККОРД (1 минута)</a:t>
            </a:r>
          </a:p>
          <a:p/>
          <a:p>
            <a:r>
              <a:t>Помните слайд в самом начале? 85%.</a:t>
            </a:r>
          </a:p>
          <a:p/>
          <a:p>
            <a:r>
              <a:t>85% профессий 2035 года ещё не существует.</a:t>
            </a:r>
          </a:p>
          <a:p/>
          <a:p>
            <a:r>
              <a:t>Это звучит пугающе. Но есть другой способ это услышать.</a:t>
            </a:r>
          </a:p>
          <a:p/>
          <a:p>
            <a:r>
              <a:t>Это значит, что список лучших профессий будущего — ещё открыт. Он не написан. Его пишем мы — прямо сейчас.</a:t>
            </a:r>
          </a:p>
          <a:p/>
          <a:p>
            <a:r>
              <a:t>История показывает: каждый технологический переворот создавал больше рабочих мест, чем уничтожал. Паровая машина, электричество, интернет — всё это вызывало страх. И всё это создавало миллионы новых возможностей.</a:t>
            </a:r>
          </a:p>
          <a:p/>
          <a:p>
            <a:r>
              <a:t>Будущее не случается с нами. Мы его создаём.</a:t>
            </a:r>
          </a:p>
          <a:p/>
          <a:p>
            <a:r>
              <a:t>[Заканчивайте с силой и уверенностью. Прямой зрительный контакт. Пауза. Ни слова "спасибо" — пусть последнее слово останется за идеей.]</a:t>
            </a:r>
          </a:p>
          <a:p/>
          <a:p>
            <a:r>
              <a:t>---</a:t>
            </a:r>
          </a:p>
          <a:p>
            <a:r>
              <a:t>СТРУКТУРА ПРЕЗЕНТАЦИИ (резюме для спикера):</a:t>
            </a:r>
          </a:p>
          <a:p>
            <a:r>
              <a:t>Слайд 1 — Название (1 мин)</a:t>
            </a:r>
          </a:p>
          <a:p>
            <a:r>
              <a:t>Слайд 2 — Хук: 85% (1 мин)</a:t>
            </a:r>
          </a:p>
          <a:p>
            <a:r>
              <a:t>Слайд 3 — Движущие силы (1 мин)</a:t>
            </a:r>
          </a:p>
          <a:p>
            <a:r>
              <a:t>Слайд 4 — Переход: Исчезнут (30 сек)</a:t>
            </a:r>
          </a:p>
          <a:p>
            <a:r>
              <a:t>Слайд 5 — Профессии под угрозой (2 мин)</a:t>
            </a:r>
          </a:p>
          <a:p>
            <a:r>
              <a:t>Слайд 6 — Закономерность автоматизации (1 мин)</a:t>
            </a:r>
          </a:p>
          <a:p>
            <a:r>
              <a:t>Слайд 7 — Переход: Появятся (30 сек)</a:t>
            </a:r>
          </a:p>
          <a:p>
            <a:r>
              <a:t>Слайд 8 — Первая волна (2 мин)</a:t>
            </a:r>
          </a:p>
          <a:p>
            <a:r>
              <a:t>Слайд 9 — Вторая волна (1.5 мин)</a:t>
            </a:r>
          </a:p>
          <a:p>
            <a:r>
              <a:t>Слайд 10 — Таймлайн (1 мин)</a:t>
            </a:r>
          </a:p>
          <a:p>
            <a:r>
              <a:t>Слайд 11 — Навыки будущего (1 мин)</a:t>
            </a:r>
          </a:p>
          <a:p>
            <a:r>
              <a:t>Слайд 12 — Призыв к действию (1.5 мин)</a:t>
            </a:r>
          </a:p>
          <a:p>
            <a:r>
              <a:t>Слайд 13 — Финал (1 мин)</a:t>
            </a:r>
          </a:p>
          <a:p>
            <a:r>
              <a:t>ИТОГО: ~15 минут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88552" y="0"/>
            <a:ext cx="3200400" cy="3200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3200400"/>
          </a:xfrm>
          <a:prstGeom prst="rect">
            <a:avLst/>
          </a:prstGeom>
          <a:solidFill>
            <a:srgbClr val="080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28632" y="182880"/>
            <a:ext cx="2194560" cy="219456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1352" y="1828800"/>
            <a:ext cx="1280160" cy="1280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Профессии будущего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D4FF"/>
                </a:solidFill>
                <a:latin typeface="Calibri"/>
              </a:rPr>
              <a:t>Что появится, что исчезнет
и как к этому подготовиться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9144000" cy="12700"/>
          </a:xfrm>
          <a:prstGeom prst="rect">
            <a:avLst/>
          </a:prstGeom>
          <a:solidFill>
            <a:srgbClr val="8A9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D"/>
                </a:solidFill>
                <a:latin typeface="Calibri"/>
              </a:rPr>
              <a:t>2025–2040  •  Рынок труда будущего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7C4DFF"/>
                </a:solidFill>
                <a:latin typeface="Calibri"/>
              </a:rPr>
              <a:t>85%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57607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профессий 2035 года ещё не существует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4AD"/>
                </a:solidFill>
                <a:latin typeface="Calibri"/>
              </a:rPr>
              <a:t>Источник: Институт будущего (IFTF) / Всемирный экономический форум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Что движет переменами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"/>
              </a:rPr>
              <a:t>Три силы, которые перекраивают рынок труда прямо сейчас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291840" cy="384048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7C4DFF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4DFF"/>
                </a:solidFill>
                <a:latin typeface="Calibri"/>
              </a:rPr>
              <a:t>Автоматизация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К 2030 г. — до 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679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рутинных задач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выполняют машины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3291840" cy="384048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92024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D4FF"/>
                </a:solidFill>
                <a:latin typeface="Calibr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889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Искусственный
интеллект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ChatGPT, Gemini, Claude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679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ИИ уже конкурирует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153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с людьми в 100+ сферах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20240"/>
            <a:ext cx="3291840" cy="384048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920240"/>
            <a:ext cx="3291840" cy="508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A502"/>
                </a:solidFill>
                <a:latin typeface="Calibri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7889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A502"/>
                </a:solidFill>
                <a:latin typeface="Calibri"/>
              </a:rPr>
              <a:t>Глобализация
+ удалёнка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Ваш конкурент теперь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8679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живёт в любой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2153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D0E0"/>
                </a:solidFill>
                <a:latin typeface="Calibri"/>
              </a:rPr>
              <a:t>точке планеты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914400"/>
            <a:ext cx="5486400" cy="5029200"/>
          </a:xfrm>
          <a:prstGeom prst="ellipse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757"/>
                </a:solidFill>
                <a:latin typeface="Calibri"/>
              </a:rPr>
              <a:t>ЧАСТЬ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Профессии,
которые исчезнут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434840"/>
            <a:ext cx="475488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4757"/>
                </a:solidFill>
                <a:latin typeface="Calibri"/>
              </a:rPr>
              <a:t>К 2030–2035 году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Под угрозой исчезновения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618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4757"/>
                </a:solidFill>
                <a:latin typeface="Calibri"/>
              </a:rPr>
              <a:t>Роботы и ИИ делают это быстрее, дешевле и без ошибок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Водитель (грузовик/такси)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Беспилотные авто — Tesla, Waymo уже везут грузы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Кассир / оператор банка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Самообслуживание и финтех-автоматизация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Оператор call-центра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ИИ-боты обрабатывают 80% обращений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761488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761488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Базовый переводчик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DeepL, Google Translate, GPT-4o — точнее и мгновенно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02736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02736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Рабочий на конвейере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Промышленные роботы: ROI за 18 месяцев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602736"/>
            <a:ext cx="5303520" cy="749808"/>
          </a:xfrm>
          <a:prstGeom prst="rect">
            <a:avLst/>
          </a:prstGeom>
          <a:solidFill>
            <a:srgbClr val="2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602736"/>
            <a:ext cx="5303520" cy="381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757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Бухгалтер (рутина)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ИИ-учёт: Xero, QuickBooks AI, 1С-нейросети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179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A502"/>
                </a:solidFill>
                <a:latin typeface="Calibri"/>
              </a:rPr>
              <a:t>⚠  Риск не означает полное исчезновение — но роль кардинально изменится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Закономерность: что автоматизируется в первую очередь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9601200" cy="91440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9601200" cy="508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4757"/>
                </a:solidFill>
                <a:latin typeface="Calibri"/>
              </a:rPr>
              <a:t>Физический повторяющийся труд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D"/>
                </a:solidFill>
                <a:latin typeface="Calibri"/>
              </a:rPr>
              <a:t>Конвейер, кассир, складской рабочий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651760"/>
            <a:ext cx="8595360" cy="91440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2651760"/>
            <a:ext cx="8595360" cy="508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724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2"/>
                </a:solidFill>
                <a:latin typeface="Calibri"/>
              </a:rPr>
              <a:t>Когнитивный повторяющийся труд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D"/>
                </a:solidFill>
                <a:latin typeface="Calibri"/>
              </a:rPr>
              <a:t>Ввод данных, базовый анализ, перевод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611880"/>
            <a:ext cx="7589520" cy="91440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3611880"/>
            <a:ext cx="75895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685032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Когнитивный нестандартный труд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087368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D"/>
                </a:solidFill>
                <a:latin typeface="Calibri"/>
              </a:rPr>
              <a:t>Аналитика, программирование, дизайн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572000"/>
            <a:ext cx="6583680" cy="91440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80" y="4572000"/>
            <a:ext cx="6583680" cy="50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645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D573"/>
                </a:solidFill>
                <a:latin typeface="Calibri"/>
              </a:rPr>
              <a:t>Социально-эмоциональный труд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0474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D"/>
                </a:solidFill>
                <a:latin typeface="Calibri"/>
              </a:rPr>
              <a:t>Терапия, менторство, переговоры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103120"/>
            <a:ext cx="640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D"/>
                </a:solidFill>
                <a:latin typeface="Calibri"/>
              </a:rPr>
              <a:t>↑ Труднее автоматизировать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A502"/>
                </a:solidFill>
                <a:latin typeface="Calibri"/>
              </a:rPr>
              <a:t>Вывод: автоматизируется снизу вверх. Чем выше ваш навык — тем дольше вы в игре.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914400"/>
            <a:ext cx="5486400" cy="5029200"/>
          </a:xfrm>
          <a:prstGeom prst="ellipse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D573"/>
                </a:solidFill>
                <a:latin typeface="Calibri"/>
              </a:rPr>
              <a:t>ЧАСТЬ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Профессии,
которые появятся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434840"/>
            <a:ext cx="475488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D573"/>
                </a:solidFill>
                <a:latin typeface="Calibri"/>
              </a:rPr>
              <a:t>2025–2040  •  Новые возможности уже открываются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Первая волна: уже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ED573"/>
                </a:solidFill>
                <a:latin typeface="Calibri"/>
              </a:rPr>
              <a:t>2025–2030  •  Эти профессии уже существуют или появятся в ближайшие 3–5 лет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Промпт-инженер / ИИ-тренер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Обучает и настраивает ИИ-модели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Специалист по кибербезопасности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Защита от атак в мире гиперсвязи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Этик данных и 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Следит за справедливостью алгоритмов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761488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761488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Разработчик XR / метавселенных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VR/AR опыт для бизнеса и образования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02736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02736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Биоинформатик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На стыке биологии, ИИ и Big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602736"/>
            <a:ext cx="5303520" cy="749808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602736"/>
            <a:ext cx="5303520" cy="381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D573"/>
                </a:solidFill>
                <a:latin typeface="Calibri"/>
              </a:rPr>
              <a:t>♻️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ESG-консультант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Устойчивое развитие — требование рынка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179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  <a:latin typeface="Calibri"/>
              </a:rPr>
              <a:t>💡 Промпт-инженеры в 2024 г. зарабатывают $150 000–$300 000/год в США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Вторая волна: горизонт 2030–2040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7C4DFF"/>
                </a:solidFill>
                <a:latin typeface="Calibri"/>
              </a:rPr>
              <a:t>Профессии, которые сегодня звучат как фантастика — но уже проектируются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Архитектор космической 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SpaceX, Blue Origin — реальные объекты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116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Консультант по долголетию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22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Рынок «100-летней жизни» — $600 млрд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Инженер по декарбонизации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Зелёная экономика — требование закона ЕС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761488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761488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98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52928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Менеджер цифрового двойника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16382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Виртуальные копии заводов, городов, людей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02736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02736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Генетический диетолог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Питание на основе ДНК-профиля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602736"/>
            <a:ext cx="5303520" cy="749808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602736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4DFF"/>
                </a:solidFill>
                <a:latin typeface="Calibri"/>
              </a:rPr>
              <a:t>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94176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Дизайнер умных городов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0507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D"/>
                </a:solidFill>
                <a:latin typeface="Calibri"/>
              </a:rPr>
              <a:t>IoT + ИИ + урбанистика нового поколения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179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8D0E0"/>
                </a:solidFill>
                <a:latin typeface="Calibri"/>
              </a:rPr>
              <a:t>🌌 К 2040 году у нас будет профессий, которые мы даже не можем вообразить сегодня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Когда это произойдёт?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725912" cy="76200"/>
          </a:xfrm>
          <a:prstGeom prst="rect">
            <a:avLst/>
          </a:prstGeom>
          <a:solidFill>
            <a:srgbClr val="8A9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2214372"/>
            <a:ext cx="219456" cy="21945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8820" y="1645920"/>
            <a:ext cx="254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91440" y="1143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Сейчас
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74320" y="640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ИИ-ассистент у каждого</a:t>
            </a:r>
          </a:p>
        </p:txBody>
      </p:sp>
      <p:sp>
        <p:nvSpPr>
          <p:cNvPr id="9" name="Oval 8"/>
          <p:cNvSpPr/>
          <p:nvPr/>
        </p:nvSpPr>
        <p:spPr>
          <a:xfrm>
            <a:off x="3303270" y="2214372"/>
            <a:ext cx="219456" cy="219456"/>
          </a:xfrm>
          <a:prstGeom prst="ellipse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0298" y="2362200"/>
            <a:ext cx="25400" cy="64008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038" y="30205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2"/>
                </a:solidFill>
                <a:latin typeface="Calibri"/>
              </a:rPr>
              <a:t>2027–2028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7158" y="3505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Массовые сокращения
операторов call-центров</a:t>
            </a:r>
          </a:p>
        </p:txBody>
      </p:sp>
      <p:sp>
        <p:nvSpPr>
          <p:cNvPr id="13" name="Oval 12"/>
          <p:cNvSpPr/>
          <p:nvPr/>
        </p:nvSpPr>
        <p:spPr>
          <a:xfrm>
            <a:off x="5984748" y="2214372"/>
            <a:ext cx="219456" cy="219456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1776" y="1645920"/>
            <a:ext cx="25400" cy="6400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6" y="1143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57"/>
                </a:solidFill>
                <a:latin typeface="Calibri"/>
              </a:rPr>
              <a:t>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8636" y="640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30% рутины
автоматизировано</a:t>
            </a:r>
          </a:p>
        </p:txBody>
      </p:sp>
      <p:sp>
        <p:nvSpPr>
          <p:cNvPr id="17" name="Oval 16"/>
          <p:cNvSpPr/>
          <p:nvPr/>
        </p:nvSpPr>
        <p:spPr>
          <a:xfrm>
            <a:off x="8666226" y="2214372"/>
            <a:ext cx="219456" cy="219456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3254" y="2362200"/>
            <a:ext cx="25400" cy="6400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2994" y="30205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4DFF"/>
                </a:solidFill>
                <a:latin typeface="Calibri"/>
              </a:rPr>
              <a:t>2035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0114" y="3505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Исчезают профессии
I-волны</a:t>
            </a:r>
          </a:p>
        </p:txBody>
      </p:sp>
      <p:sp>
        <p:nvSpPr>
          <p:cNvPr id="21" name="Oval 20"/>
          <p:cNvSpPr/>
          <p:nvPr/>
        </p:nvSpPr>
        <p:spPr>
          <a:xfrm>
            <a:off x="11347704" y="2214372"/>
            <a:ext cx="219456" cy="219456"/>
          </a:xfrm>
          <a:prstGeom prst="ellipse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44732" y="1645920"/>
            <a:ext cx="25400" cy="6400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34472" y="1143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D573"/>
                </a:solidFill>
                <a:latin typeface="Calibri"/>
              </a:rPr>
              <a:t>2040+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1592" y="640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Новые профессии
доминируют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A502"/>
                </a:solidFill>
                <a:latin typeface="Calibri"/>
              </a:rPr>
              <a:t>→ Темп изменений ускоряется с каждым годом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Навыки, которые не устареют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618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"/>
              </a:rPr>
              <a:t>Что ИИ не умеет и не сможет делать как человек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303520" cy="118872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03520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7C4DFF"/>
                </a:solidFill>
                <a:latin typeface="Calibri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4DFF"/>
                </a:solidFill>
                <a:latin typeface="Calibri"/>
              </a:rPr>
              <a:t>Критическое мышление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505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  <a:latin typeface="Calibri"/>
              </a:rPr>
              <a:t>Задавать правильные вопросы, находить нестандартные решения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303520" cy="118872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303520" cy="50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2ED573"/>
                </a:solidFill>
                <a:latin typeface="Calibri"/>
              </a:rP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574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D573"/>
                </a:solidFill>
                <a:latin typeface="Calibri"/>
              </a:rPr>
              <a:t>Эмоциональный интеллект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505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  <a:latin typeface="Calibri"/>
              </a:rPr>
              <a:t>Эмпатия, переговоры, лидерство — чисто человеческое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73552"/>
            <a:ext cx="5303520" cy="118872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5303520" cy="508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A502"/>
                </a:solidFill>
                <a:latin typeface="Calibri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107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2"/>
                </a:solidFill>
                <a:latin typeface="Calibri"/>
              </a:rPr>
              <a:t>Творчество и инновации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0390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  <a:latin typeface="Calibri"/>
              </a:rPr>
              <a:t>Создавать то, чего ещё нет, менять правила игры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273552"/>
            <a:ext cx="5303520" cy="118872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273552"/>
            <a:ext cx="53035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D4FF"/>
                </a:solidFill>
                <a:latin typeface="Calibri"/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4107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Адаптивность / обучаемость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80390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  <a:latin typeface="Calibri"/>
              </a:rPr>
              <a:t>Учиться быстро — главный метанавык XXI века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179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A502"/>
                </a:solidFill>
                <a:latin typeface="Calibri"/>
              </a:rPr>
              <a:t>+  техническая грамотность (базовый ИИ, данные) — уже обязательна для всех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Три шага к профессии будущего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618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A502"/>
                </a:solidFill>
                <a:latin typeface="Calibri"/>
              </a:rPr>
              <a:t>Не нужно знать ответ — нужно начать двигаться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08792" cy="123444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0879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38528"/>
            <a:ext cx="9765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Изучайте ИИ-инструменты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9152"/>
            <a:ext cx="9765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0E0"/>
                </a:solidFill>
                <a:latin typeface="Calibri"/>
              </a:rPr>
              <a:t>ChatGPT, Midjourney, Copilot — потратьте 30 мин/день.
Чем раньше начнёте, тем больше преимущество.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27832"/>
            <a:ext cx="10908792" cy="123444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27832"/>
            <a:ext cx="10908792" cy="50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502152"/>
            <a:ext cx="548640" cy="548640"/>
          </a:xfrm>
          <a:prstGeom prst="ellipse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37560"/>
            <a:ext cx="9765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D573"/>
                </a:solidFill>
                <a:latin typeface="Calibri"/>
              </a:rPr>
              <a:t>Развивайте гибкие навыки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58184"/>
            <a:ext cx="9765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0E0"/>
                </a:solidFill>
                <a:latin typeface="Calibri"/>
              </a:rPr>
              <a:t>Запишитесь на курс по публичным выступлениям,
возглавьте проект, найдите ментора.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26864"/>
            <a:ext cx="10908792" cy="123444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26864"/>
            <a:ext cx="10908792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901184"/>
            <a:ext cx="548640" cy="54864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011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36592"/>
            <a:ext cx="9765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4DFF"/>
                </a:solidFill>
                <a:latin typeface="Calibri"/>
              </a:rPr>
              <a:t>Смотрите на стык дисциплин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57216"/>
            <a:ext cx="9765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0E0"/>
                </a:solidFill>
                <a:latin typeface="Calibri"/>
              </a:rPr>
              <a:t>Биология + ИТ. Дизайн + психология. Право + ИИ.
Самые востребованные специалисты — на пересечении.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4572000" cy="4572000"/>
          </a:xfrm>
          <a:prstGeom prst="ellipse">
            <a:avLst/>
          </a:prstGeom>
          <a:solidFill>
            <a:srgbClr val="1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-228600"/>
            <a:ext cx="3200400" cy="3200400"/>
          </a:xfrm>
          <a:prstGeom prst="ellipse">
            <a:avLst/>
          </a:prstGeom>
          <a:solidFill>
            <a:srgbClr val="1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1828800" cy="1828800"/>
          </a:xfrm>
          <a:prstGeom prst="ellipse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2743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7C4DFF"/>
                </a:solidFill>
                <a:latin typeface="Calibri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Профессий будущего
ещё не существует.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486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D4FF"/>
                </a:solidFill>
                <a:latin typeface="Calibri"/>
              </a:rPr>
              <a:t>Это значит, что лучшие из них
может создать именно 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A94AD"/>
                </a:solidFill>
                <a:latin typeface="Calibri"/>
              </a:rPr>
              <a:t>Будущее не случается с нами. Мы его создаём.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4AD"/>
                </a:solidFill>
                <a:latin typeface="Calibri"/>
              </a:rPr>
              <a:t>Вопросы?  •  Профессии будущего: что появится и что исчезнет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4AD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